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handoutMasterIdLst>
    <p:handoutMasterId r:id="rId20"/>
  </p:handoutMasterIdLst>
  <p:sldIdLst>
    <p:sldId id="280" r:id="rId2"/>
    <p:sldId id="366" r:id="rId3"/>
    <p:sldId id="380" r:id="rId4"/>
    <p:sldId id="383" r:id="rId5"/>
    <p:sldId id="384" r:id="rId6"/>
    <p:sldId id="385" r:id="rId7"/>
    <p:sldId id="386" r:id="rId8"/>
    <p:sldId id="387" r:id="rId9"/>
    <p:sldId id="388" r:id="rId10"/>
    <p:sldId id="389" r:id="rId11"/>
    <p:sldId id="390" r:id="rId12"/>
    <p:sldId id="391" r:id="rId13"/>
    <p:sldId id="392" r:id="rId14"/>
    <p:sldId id="393" r:id="rId15"/>
    <p:sldId id="394" r:id="rId16"/>
    <p:sldId id="395" r:id="rId17"/>
    <p:sldId id="28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61" d="100"/>
          <a:sy n="61" d="100"/>
        </p:scale>
        <p:origin x="1536"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333646"/>
            <a:chOff x="-14748" y="986564"/>
            <a:chExt cx="9158748" cy="5333646"/>
          </a:xfrm>
        </p:grpSpPr>
        <p:sp>
          <p:nvSpPr>
            <p:cNvPr id="22" name="TextBox 21"/>
            <p:cNvSpPr txBox="1"/>
            <p:nvPr/>
          </p:nvSpPr>
          <p:spPr>
            <a:xfrm>
              <a:off x="177781" y="4812105"/>
              <a:ext cx="4322209" cy="1508105"/>
            </a:xfrm>
            <a:prstGeom prst="rect">
              <a:avLst/>
            </a:prstGeom>
            <a:noFill/>
          </p:spPr>
          <p:txBody>
            <a:bodyPr wrap="square" rtlCol="0">
              <a:spAutoFit/>
            </a:bodyPr>
            <a:lstStyle/>
            <a:p>
              <a:r>
                <a:rPr lang="en-US" b="1" dirty="0"/>
                <a:t>220701227</a:t>
              </a:r>
            </a:p>
            <a:p>
              <a:r>
                <a:rPr lang="en-US" b="1" dirty="0"/>
                <a:t>RITHVIK M</a:t>
              </a:r>
            </a:p>
            <a:p>
              <a:r>
                <a:rPr lang="en-US" b="1" dirty="0"/>
                <a:t>DURAI MURUGAN N</a:t>
              </a:r>
            </a:p>
            <a:p>
              <a:r>
                <a:rPr lang="en-US" b="1" dirty="0"/>
                <a:t>COMPUTER SCIENCE AND ENGINEERING</a:t>
              </a:r>
            </a:p>
            <a:p>
              <a:endParaRPr lang="en-US" sz="2000" b="1" dirty="0"/>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2" y="2100903"/>
                <a:ext cx="4188156" cy="1323439"/>
              </a:xfrm>
              <a:prstGeom prst="rect">
                <a:avLst/>
              </a:prstGeom>
              <a:noFill/>
            </p:spPr>
            <p:txBody>
              <a:bodyPr wrap="square" rtlCol="0">
                <a:spAutoFit/>
              </a:bodyPr>
              <a:lstStyle/>
              <a:p>
                <a:r>
                  <a:rPr lang="en-US" sz="4000" b="1" dirty="0">
                    <a:solidFill>
                      <a:schemeClr val="bg1"/>
                    </a:solidFill>
                    <a:ea typeface="Open Sans Bold" panose="020B0806030504020204" pitchFamily="34" charset="0"/>
                    <a:cs typeface="Open Sans Bold" panose="020B0806030504020204" pitchFamily="34" charset="0"/>
                  </a:rPr>
                  <a:t>Customer Feedback Analysis </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5" name="Rectangle 2">
            <a:extLst>
              <a:ext uri="{FF2B5EF4-FFF2-40B4-BE49-F238E27FC236}">
                <a16:creationId xmlns:a16="http://schemas.microsoft.com/office/drawing/2014/main" id="{D7AA7D04-46C4-4BB1-8B26-A2496D54B624}"/>
              </a:ext>
            </a:extLst>
          </p:cNvPr>
          <p:cNvSpPr>
            <a:spLocks noGrp="1" noChangeArrowheads="1"/>
          </p:cNvSpPr>
          <p:nvPr>
            <p:ph idx="1"/>
          </p:nvPr>
        </p:nvSpPr>
        <p:spPr bwMode="auto">
          <a:xfrm>
            <a:off x="190500" y="1456998"/>
            <a:ext cx="837794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Customer Feedback Analysis Bot is an advanced Robotic Process Automation (RPA) solution developed using UiPath Studio, designed to streamline sentiment analysis of customer reviews. Leveraging the AI Center's ML capabilities and trained on the IMDb dataset, the bot automates the process of analyzing customer feedback to classify sentiments as "very positive“ ,"positive“ ,"neutral “, "negative" or "very negative" providing precise accuracy metrics. The workflow involves reading input data from an Excel sheet, processing it through a machine learning model, and generating detailed sentiment analysis reports stored in an Excel file. Additionally, the bot sends the results via email, ensuring efficient and accurate communication of insights. This automation reduces manual effort, enhances data processing speed, and empowers businesses with actionable insights to improve customer satisfaction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4" name="Rectangle 1">
            <a:extLst>
              <a:ext uri="{FF2B5EF4-FFF2-40B4-BE49-F238E27FC236}">
                <a16:creationId xmlns:a16="http://schemas.microsoft.com/office/drawing/2014/main" id="{13CE7607-CA64-4369-AD84-2895E5834C3C}"/>
              </a:ext>
            </a:extLst>
          </p:cNvPr>
          <p:cNvSpPr>
            <a:spLocks noGrp="1" noChangeArrowheads="1"/>
          </p:cNvSpPr>
          <p:nvPr>
            <p:ph idx="1"/>
          </p:nvPr>
        </p:nvSpPr>
        <p:spPr bwMode="auto">
          <a:xfrm>
            <a:off x="239012" y="984806"/>
            <a:ext cx="866597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Eliminates Manual Effort</a:t>
            </a:r>
            <a:r>
              <a:rPr kumimoji="0" lang="en-US" altLang="en-US" sz="1800" b="0" i="0" u="none" strike="noStrike" cap="none" normalizeH="0" baseline="0" dirty="0">
                <a:ln>
                  <a:noFill/>
                </a:ln>
                <a:solidFill>
                  <a:schemeClr val="tx1"/>
                </a:solidFill>
                <a:effectLst/>
                <a:latin typeface="Arial" panose="020B0604020202020204" pitchFamily="34" charset="0"/>
              </a:rPr>
              <a:t>: Automates the sentiment analysis process, reducing dependency on human intervention.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Improved Accuracy</a:t>
            </a:r>
            <a:r>
              <a:rPr kumimoji="0" lang="en-US" altLang="en-US" sz="1800" b="0" i="0" u="none" strike="noStrike" cap="none" normalizeH="0" baseline="0" dirty="0">
                <a:ln>
                  <a:noFill/>
                </a:ln>
                <a:solidFill>
                  <a:schemeClr val="tx1"/>
                </a:solidFill>
                <a:effectLst/>
                <a:latin typeface="Arial" panose="020B0604020202020204" pitchFamily="34" charset="0"/>
              </a:rPr>
              <a:t>: Ensures consistent and error-free sentiment classification using ML models.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Timely Results</a:t>
            </a:r>
            <a:r>
              <a:rPr kumimoji="0" lang="en-US" altLang="en-US" sz="1800" b="0" i="0" u="none" strike="noStrike" cap="none" normalizeH="0" baseline="0" dirty="0">
                <a:ln>
                  <a:noFill/>
                </a:ln>
                <a:solidFill>
                  <a:schemeClr val="tx1"/>
                </a:solidFill>
                <a:effectLst/>
                <a:latin typeface="Arial" panose="020B0604020202020204" pitchFamily="34" charset="0"/>
              </a:rPr>
              <a:t>: Speeds up the analysis process, enabling quick decision-making.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Enhanced Insights</a:t>
            </a:r>
            <a:r>
              <a:rPr kumimoji="0" lang="en-US" altLang="en-US" sz="1800" b="0" i="0" u="none" strike="noStrike" cap="none" normalizeH="0" baseline="0" dirty="0">
                <a:ln>
                  <a:noFill/>
                </a:ln>
                <a:solidFill>
                  <a:schemeClr val="tx1"/>
                </a:solidFill>
                <a:effectLst/>
                <a:latin typeface="Arial" panose="020B0604020202020204" pitchFamily="34" charset="0"/>
              </a:rPr>
              <a:t>: Provides granular sentiment categorization with accuracy metrics to help identify trends in customer feedback. </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pPr>
              <a:buFont typeface="+mj-lt"/>
              <a:buAutoNum type="arabicPeriod"/>
            </a:pPr>
            <a:r>
              <a:rPr lang="en-US" b="1" dirty="0"/>
              <a:t>Time Efficiency</a:t>
            </a:r>
            <a:r>
              <a:rPr lang="en-US" dirty="0"/>
              <a:t>: Automates repetitive feedback analysis, allowing stakeholders to focus on strategic tasks.</a:t>
            </a:r>
          </a:p>
          <a:p>
            <a:pPr>
              <a:buFont typeface="+mj-lt"/>
              <a:buAutoNum type="arabicPeriod"/>
            </a:pPr>
            <a:r>
              <a:rPr lang="en-US" b="1" dirty="0"/>
              <a:t>Accuracy and Consistency</a:t>
            </a:r>
            <a:r>
              <a:rPr lang="en-US" dirty="0"/>
              <a:t>: Leverages AI-driven models to eliminate human error in sentiment evaluation.</a:t>
            </a:r>
          </a:p>
          <a:p>
            <a:pPr>
              <a:buFont typeface="+mj-lt"/>
              <a:buAutoNum type="arabicPeriod"/>
            </a:pPr>
            <a:r>
              <a:rPr lang="en-US" b="1" dirty="0"/>
              <a:t>Cost Savings</a:t>
            </a:r>
            <a:r>
              <a:rPr lang="en-US" dirty="0"/>
              <a:t>: Reduces operational costs by minimizing manual effort.</a:t>
            </a:r>
          </a:p>
          <a:p>
            <a:pPr>
              <a:buFont typeface="+mj-lt"/>
              <a:buAutoNum type="arabicPeriod"/>
            </a:pPr>
            <a:r>
              <a:rPr lang="en-US" b="1" dirty="0"/>
              <a:t>Improved Decision-Making</a:t>
            </a:r>
            <a:r>
              <a:rPr lang="en-US" dirty="0"/>
              <a:t>: Delivers actionable insights promptly for business improvements.</a:t>
            </a:r>
          </a:p>
          <a:p>
            <a:pPr>
              <a:buFont typeface="+mj-lt"/>
              <a:buAutoNum type="arabicPeriod"/>
            </a:pPr>
            <a:r>
              <a:rPr lang="en-US" b="1" dirty="0"/>
              <a:t>Scalability</a:t>
            </a:r>
            <a:r>
              <a:rPr lang="en-US" dirty="0"/>
              <a:t>: Can handle increasing volumes of feedback without compromising performance.</a:t>
            </a:r>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lstStyle/>
          <a:p>
            <a:endParaRPr lang="en-US" dirty="0"/>
          </a:p>
          <a:p>
            <a:endParaRPr lang="en-US" dirty="0"/>
          </a:p>
        </p:txBody>
      </p:sp>
      <p:sp>
        <p:nvSpPr>
          <p:cNvPr id="4" name="Rectangle 1">
            <a:extLst>
              <a:ext uri="{FF2B5EF4-FFF2-40B4-BE49-F238E27FC236}">
                <a16:creationId xmlns:a16="http://schemas.microsoft.com/office/drawing/2014/main" id="{4341E436-24F5-4914-BC4F-08286792C5F6}"/>
              </a:ext>
            </a:extLst>
          </p:cNvPr>
          <p:cNvSpPr>
            <a:spLocks noChangeArrowheads="1"/>
          </p:cNvSpPr>
          <p:nvPr/>
        </p:nvSpPr>
        <p:spPr bwMode="auto">
          <a:xfrm rot="10800000" flipV="1">
            <a:off x="190500" y="1232756"/>
            <a:ext cx="853244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Models for Sentiment Analysis</a:t>
            </a:r>
            <a:r>
              <a:rPr kumimoji="0" lang="en-US" altLang="en-US" sz="1800" b="0" i="0" u="none" strike="noStrike" cap="none" normalizeH="0" baseline="0" dirty="0">
                <a:ln>
                  <a:noFill/>
                </a:ln>
                <a:solidFill>
                  <a:schemeClr val="tx1"/>
                </a:solidFill>
                <a:effectLst/>
                <a:latin typeface="Arial" panose="020B0604020202020204" pitchFamily="34" charset="0"/>
              </a:rPr>
              <a:t>: Pre-trained models like IMDb enable accurate sentiment classification, detecting nuanced customer sentiments.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RPA in Data Automation</a:t>
            </a:r>
            <a:r>
              <a:rPr kumimoji="0" lang="en-US" altLang="en-US" sz="1800" b="0" i="0" u="none" strike="noStrike" cap="none" normalizeH="0" baseline="0" dirty="0">
                <a:ln>
                  <a:noFill/>
                </a:ln>
                <a:solidFill>
                  <a:schemeClr val="tx1"/>
                </a:solidFill>
                <a:effectLst/>
                <a:latin typeface="Arial" panose="020B0604020202020204" pitchFamily="34" charset="0"/>
              </a:rPr>
              <a:t>: Tools like UiPath streamline repetitive tasks such as data collection, analysis, and reporting, ensuring consistency and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Challenges in Feedback Processing</a:t>
            </a:r>
            <a:r>
              <a:rPr kumimoji="0" lang="en-US" altLang="en-US" sz="1800" b="0" i="0" u="none" strike="noStrike" cap="none" normalizeH="0" baseline="0" dirty="0">
                <a:ln>
                  <a:noFill/>
                </a:ln>
                <a:solidFill>
                  <a:schemeClr val="tx1"/>
                </a:solidFill>
                <a:effectLst/>
                <a:latin typeface="Arial" panose="020B0604020202020204" pitchFamily="34" charset="0"/>
              </a:rPr>
              <a:t>: Issues like incomplete data and large volumes are addressed by integrating ML models with RPA for efficient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Case Studies</a:t>
            </a:r>
            <a:r>
              <a:rPr kumimoji="0" lang="en-US" altLang="en-US" sz="1800" b="0" i="0" u="none" strike="noStrike" cap="none" normalizeH="0" baseline="0" dirty="0">
                <a:ln>
                  <a:noFill/>
                </a:ln>
                <a:solidFill>
                  <a:schemeClr val="tx1"/>
                </a:solidFill>
                <a:effectLst/>
                <a:latin typeface="Arial" panose="020B0604020202020204" pitchFamily="34" charset="0"/>
              </a:rPr>
              <a:t>: Successful RPA implementations have reduced processing times and enhanced decision-making across industries like e-commerce and banking. </a:t>
            </a:r>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r>
              <a:rPr lang="en-US" dirty="0"/>
              <a:t>To automate the end-to-end process of customer feedback analysis, enabling real-time sentiment categorization, trend prediction, and actionable insights for better decision-making and customer relationship management.</a:t>
            </a:r>
          </a:p>
          <a:p>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4" name="Content Placeholder 3">
            <a:extLst>
              <a:ext uri="{FF2B5EF4-FFF2-40B4-BE49-F238E27FC236}">
                <a16:creationId xmlns:a16="http://schemas.microsoft.com/office/drawing/2014/main" id="{8FCD80E1-F345-4240-AEC3-79D7F408216E}"/>
              </a:ext>
            </a:extLst>
          </p:cNvPr>
          <p:cNvPicPr>
            <a:picLocks noGrp="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90500" y="1075985"/>
            <a:ext cx="8763000" cy="5163229"/>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29381"/>
            <a:ext cx="8763000" cy="808037"/>
          </a:xfrm>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lstStyle/>
          <a:p>
            <a:r>
              <a:rPr lang="en-US" dirty="0"/>
              <a:t>Hardware</a:t>
            </a:r>
          </a:p>
          <a:p>
            <a:endParaRPr lang="en-US" dirty="0"/>
          </a:p>
          <a:p>
            <a:endParaRPr lang="en-US" dirty="0"/>
          </a:p>
          <a:p>
            <a:endParaRPr lang="en-US" dirty="0"/>
          </a:p>
          <a:p>
            <a:pPr marL="0" indent="0">
              <a:buNone/>
            </a:pPr>
            <a:r>
              <a:rPr lang="en-US" dirty="0"/>
              <a:t>     Software</a:t>
            </a:r>
          </a:p>
          <a:p>
            <a:pPr marL="0" indent="0">
              <a:buNone/>
            </a:pPr>
            <a:r>
              <a:rPr lang="en-US" dirty="0"/>
              <a:t>      </a:t>
            </a:r>
          </a:p>
          <a:p>
            <a:endParaRPr lang="en-US" dirty="0"/>
          </a:p>
        </p:txBody>
      </p:sp>
      <p:sp>
        <p:nvSpPr>
          <p:cNvPr id="4" name="Rectangle 1">
            <a:extLst>
              <a:ext uri="{FF2B5EF4-FFF2-40B4-BE49-F238E27FC236}">
                <a16:creationId xmlns:a16="http://schemas.microsoft.com/office/drawing/2014/main" id="{94187959-FB27-4444-ABBF-6B231FDFBE43}"/>
              </a:ext>
            </a:extLst>
          </p:cNvPr>
          <p:cNvSpPr>
            <a:spLocks noChangeArrowheads="1"/>
          </p:cNvSpPr>
          <p:nvPr/>
        </p:nvSpPr>
        <p:spPr bwMode="auto">
          <a:xfrm>
            <a:off x="503548" y="1340768"/>
            <a:ext cx="8763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Processor: Dual-core (2.0 GHz or higher)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RAM: Minimum 4 GB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Storage: 50 GB free disk space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Network: Stable internet connection (10 Mbps or higher) </a:t>
            </a:r>
          </a:p>
        </p:txBody>
      </p:sp>
      <p:sp>
        <p:nvSpPr>
          <p:cNvPr id="6" name="Rectangle 2">
            <a:extLst>
              <a:ext uri="{FF2B5EF4-FFF2-40B4-BE49-F238E27FC236}">
                <a16:creationId xmlns:a16="http://schemas.microsoft.com/office/drawing/2014/main" id="{C6CAA5BA-8228-4C96-9158-EB76F26F898D}"/>
              </a:ext>
            </a:extLst>
          </p:cNvPr>
          <p:cNvSpPr>
            <a:spLocks noChangeArrowheads="1"/>
          </p:cNvSpPr>
          <p:nvPr/>
        </p:nvSpPr>
        <p:spPr bwMode="auto">
          <a:xfrm>
            <a:off x="503548" y="418508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Operating System: Windows 10 or higher (64-bit)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RPA Tool: UiPath Studio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AI Center: For deploying ML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Data Processing: Excel/CSV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Email Client: Microsoft Outlook or Gmail </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US" b="1" dirty="0"/>
              <a:t>Module 1: Feedback Collection</a:t>
            </a:r>
          </a:p>
          <a:p>
            <a:pPr>
              <a:buFont typeface="Arial" panose="020B0604020202020204" pitchFamily="34" charset="0"/>
              <a:buChar char="•"/>
            </a:pPr>
            <a:r>
              <a:rPr lang="en-US" dirty="0"/>
              <a:t>Extract data from emails, surveys, and social media using RPA.</a:t>
            </a:r>
          </a:p>
          <a:p>
            <a:pPr>
              <a:buFont typeface="Arial" panose="020B0604020202020204" pitchFamily="34" charset="0"/>
              <a:buChar char="•"/>
            </a:pPr>
            <a:r>
              <a:rPr lang="en-US" dirty="0"/>
              <a:t>Store structured data in Excel for analysis.</a:t>
            </a:r>
          </a:p>
          <a:p>
            <a:r>
              <a:rPr lang="en-US" b="1" dirty="0"/>
              <a:t>Module 2: Sentiment Analysis</a:t>
            </a:r>
          </a:p>
          <a:p>
            <a:pPr>
              <a:buFont typeface="Arial" panose="020B0604020202020204" pitchFamily="34" charset="0"/>
              <a:buChar char="•"/>
            </a:pPr>
            <a:r>
              <a:rPr lang="en-US" dirty="0"/>
              <a:t>AI categorizes feedback into sentiments: Very Positive, Positive, Neutral, Negative, Very Negative.</a:t>
            </a:r>
          </a:p>
          <a:p>
            <a:r>
              <a:rPr lang="en-US" b="1" dirty="0"/>
              <a:t>Module 3: Trend Prediction</a:t>
            </a:r>
          </a:p>
          <a:p>
            <a:pPr>
              <a:buFont typeface="Arial" panose="020B0604020202020204" pitchFamily="34" charset="0"/>
              <a:buChar char="•"/>
            </a:pPr>
            <a:r>
              <a:rPr lang="en-US" dirty="0"/>
              <a:t>Time-series analysis predicts customer satisfaction trends.</a:t>
            </a:r>
          </a:p>
          <a:p>
            <a:r>
              <a:rPr lang="en-US" b="1" dirty="0"/>
              <a:t>Module 4: Reporting</a:t>
            </a:r>
          </a:p>
          <a:p>
            <a:pPr>
              <a:buFont typeface="Arial" panose="020B0604020202020204" pitchFamily="34" charset="0"/>
              <a:buChar char="•"/>
            </a:pPr>
            <a:r>
              <a:rPr lang="en-US" dirty="0"/>
              <a:t>Generate Excel-based reports with visual graphs and share via email.</a:t>
            </a:r>
          </a:p>
          <a:p>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pic>
        <p:nvPicPr>
          <p:cNvPr id="1026" name="Picture 2" descr="PlantUML diagram">
            <a:extLst>
              <a:ext uri="{FF2B5EF4-FFF2-40B4-BE49-F238E27FC236}">
                <a16:creationId xmlns:a16="http://schemas.microsoft.com/office/drawing/2014/main" id="{CBFC8693-F8D2-4F3C-8267-4A2FE97E2198}"/>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043608" y="990600"/>
            <a:ext cx="7020779" cy="5334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4" name="Rectangle 1">
            <a:extLst>
              <a:ext uri="{FF2B5EF4-FFF2-40B4-BE49-F238E27FC236}">
                <a16:creationId xmlns:a16="http://schemas.microsoft.com/office/drawing/2014/main" id="{64E187A4-6BB1-4553-82ED-1F40AD5243BA}"/>
              </a:ext>
            </a:extLst>
          </p:cNvPr>
          <p:cNvSpPr>
            <a:spLocks noGrp="1" noChangeArrowheads="1"/>
          </p:cNvSpPr>
          <p:nvPr>
            <p:ph idx="1"/>
          </p:nvPr>
        </p:nvSpPr>
        <p:spPr bwMode="auto">
          <a:xfrm>
            <a:off x="203941" y="977825"/>
            <a:ext cx="818448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Process Design for Customer Feedback Analysis Bot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a:ln>
                  <a:noFill/>
                </a:ln>
                <a:solidFill>
                  <a:schemeClr val="tx1"/>
                </a:solidFill>
                <a:effectLst/>
                <a:latin typeface="Arial" panose="020B0604020202020204" pitchFamily="34" charset="0"/>
              </a:rPr>
              <a:t>Read Input</a:t>
            </a:r>
            <a:r>
              <a:rPr kumimoji="0" lang="en-US" altLang="en-US" sz="1800" b="0" i="0" u="none" strike="noStrike" cap="none" normalizeH="0" baseline="0" dirty="0">
                <a:ln>
                  <a:noFill/>
                </a:ln>
                <a:solidFill>
                  <a:schemeClr val="tx1"/>
                </a:solidFill>
                <a:effectLst/>
                <a:latin typeface="Arial" panose="020B0604020202020204" pitchFamily="34" charset="0"/>
              </a:rPr>
              <a:t>: Fetch feedback data from an Excel file.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Arial" panose="020B0604020202020204" pitchFamily="34" charset="0"/>
              </a:rPr>
              <a:t>Preprocess Data</a:t>
            </a:r>
            <a:r>
              <a:rPr kumimoji="0" lang="en-US" altLang="en-US" sz="1800" b="0" i="0" u="none" strike="noStrike" cap="none" normalizeH="0" baseline="0" dirty="0">
                <a:ln>
                  <a:noFill/>
                </a:ln>
                <a:solidFill>
                  <a:schemeClr val="tx1"/>
                </a:solidFill>
                <a:effectLst/>
                <a:latin typeface="Arial" panose="020B0604020202020204" pitchFamily="34" charset="0"/>
              </a:rPr>
              <a:t>: Clean and structure the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Arial" panose="020B0604020202020204" pitchFamily="34" charset="0"/>
              </a:rPr>
              <a:t>Analyze Sentiments</a:t>
            </a:r>
            <a:r>
              <a:rPr kumimoji="0" lang="en-US" altLang="en-US" sz="1800" b="0" i="0" u="none" strike="noStrike" cap="none" normalizeH="0" baseline="0" dirty="0">
                <a:ln>
                  <a:noFill/>
                </a:ln>
                <a:solidFill>
                  <a:schemeClr val="tx1"/>
                </a:solidFill>
                <a:effectLst/>
                <a:latin typeface="Arial" panose="020B0604020202020204" pitchFamily="34" charset="0"/>
              </a:rPr>
              <a:t>: Use the ML model to classify sentiments with accuracy scores.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a:ln>
                  <a:noFill/>
                </a:ln>
                <a:solidFill>
                  <a:schemeClr val="tx1"/>
                </a:solidFill>
                <a:effectLst/>
                <a:latin typeface="Arial" panose="020B0604020202020204" pitchFamily="34" charset="0"/>
              </a:rPr>
              <a:t>Store Results</a:t>
            </a:r>
            <a:r>
              <a:rPr kumimoji="0" lang="en-US" altLang="en-US" sz="1800" b="0" i="0" u="none" strike="noStrike" cap="none" normalizeH="0" baseline="0" dirty="0">
                <a:ln>
                  <a:noFill/>
                </a:ln>
                <a:solidFill>
                  <a:schemeClr val="tx1"/>
                </a:solidFill>
                <a:effectLst/>
                <a:latin typeface="Arial" panose="020B0604020202020204" pitchFamily="34" charset="0"/>
              </a:rPr>
              <a:t>: Save analyzed data into a new Excel file.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a:ln>
                  <a:noFill/>
                </a:ln>
                <a:solidFill>
                  <a:schemeClr val="tx1"/>
                </a:solidFill>
                <a:effectLst/>
                <a:latin typeface="Arial" panose="020B0604020202020204" pitchFamily="34" charset="0"/>
              </a:rPr>
              <a:t>Generate Report</a:t>
            </a:r>
            <a:r>
              <a:rPr kumimoji="0" lang="en-US" altLang="en-US" sz="1800" b="0" i="0" u="none" strike="noStrike" cap="none" normalizeH="0" baseline="0" dirty="0">
                <a:ln>
                  <a:noFill/>
                </a:ln>
                <a:solidFill>
                  <a:schemeClr val="tx1"/>
                </a:solidFill>
                <a:effectLst/>
                <a:latin typeface="Arial" panose="020B0604020202020204" pitchFamily="34" charset="0"/>
              </a:rPr>
              <a:t>: Compile a detailed sentiment report.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1" i="0" u="none" strike="noStrike" cap="none" normalizeH="0" baseline="0" dirty="0">
                <a:ln>
                  <a:noFill/>
                </a:ln>
                <a:solidFill>
                  <a:schemeClr val="tx1"/>
                </a:solidFill>
                <a:effectLst/>
                <a:latin typeface="Arial" panose="020B0604020202020204" pitchFamily="34" charset="0"/>
              </a:rPr>
              <a:t>Send Email</a:t>
            </a:r>
            <a:r>
              <a:rPr kumimoji="0" lang="en-US" altLang="en-US" sz="1800" b="0" i="0" u="none" strike="noStrike" cap="none" normalizeH="0" baseline="0" dirty="0">
                <a:ln>
                  <a:noFill/>
                </a:ln>
                <a:solidFill>
                  <a:schemeClr val="tx1"/>
                </a:solidFill>
                <a:effectLst/>
                <a:latin typeface="Arial" panose="020B0604020202020204" pitchFamily="34" charset="0"/>
              </a:rPr>
              <a:t>: Automatically email the report to stakeholders.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5" name="Picture 4">
            <a:extLst>
              <a:ext uri="{FF2B5EF4-FFF2-40B4-BE49-F238E27FC236}">
                <a16:creationId xmlns:a16="http://schemas.microsoft.com/office/drawing/2014/main" id="{808D6D84-EC15-4915-8D4D-4743DEE1BC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80679" y="1808820"/>
            <a:ext cx="6382641" cy="4644789"/>
          </a:xfrm>
          <a:prstGeom prst="rect">
            <a:avLst/>
          </a:prstGeom>
        </p:spPr>
      </p:pic>
      <p:sp>
        <p:nvSpPr>
          <p:cNvPr id="7" name="TextBox 6">
            <a:extLst>
              <a:ext uri="{FF2B5EF4-FFF2-40B4-BE49-F238E27FC236}">
                <a16:creationId xmlns:a16="http://schemas.microsoft.com/office/drawing/2014/main" id="{4A1A8BD1-1252-4C73-BC2C-253853D7F1A5}"/>
              </a:ext>
            </a:extLst>
          </p:cNvPr>
          <p:cNvSpPr txBox="1"/>
          <p:nvPr/>
        </p:nvSpPr>
        <p:spPr>
          <a:xfrm>
            <a:off x="359532" y="1088740"/>
            <a:ext cx="4536504" cy="646331"/>
          </a:xfrm>
          <a:prstGeom prst="rect">
            <a:avLst/>
          </a:prstGeom>
          <a:noFill/>
        </p:spPr>
        <p:txBody>
          <a:bodyPr wrap="square" rtlCol="0">
            <a:spAutoFit/>
          </a:bodyPr>
          <a:lstStyle/>
          <a:p>
            <a:r>
              <a:rPr lang="en-US" dirty="0"/>
              <a:t>The generated review has send through g-mail</a:t>
            </a:r>
          </a:p>
          <a:p>
            <a:r>
              <a:rPr lang="en-US" dirty="0"/>
              <a:t> </a:t>
            </a:r>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dirty="0"/>
              <a:t> </a:t>
            </a:r>
          </a:p>
          <a:p>
            <a:endParaRPr lang="en-US" dirty="0"/>
          </a:p>
        </p:txBody>
      </p:sp>
      <p:pic>
        <p:nvPicPr>
          <p:cNvPr id="7" name="Picture 6">
            <a:extLst>
              <a:ext uri="{FF2B5EF4-FFF2-40B4-BE49-F238E27FC236}">
                <a16:creationId xmlns:a16="http://schemas.microsoft.com/office/drawing/2014/main" id="{B8CE047A-4AF0-425C-B78C-C94936A4C118}"/>
              </a:ext>
            </a:extLst>
          </p:cNvPr>
          <p:cNvPicPr>
            <a:picLocks noChangeAspect="1"/>
          </p:cNvPicPr>
          <p:nvPr/>
        </p:nvPicPr>
        <p:blipFill>
          <a:blip r:embed="rId4"/>
          <a:stretch>
            <a:fillRect/>
          </a:stretch>
        </p:blipFill>
        <p:spPr>
          <a:xfrm>
            <a:off x="431540" y="1232756"/>
            <a:ext cx="8331460" cy="4176464"/>
          </a:xfrm>
          <a:prstGeom prst="rect">
            <a:avLst/>
          </a:prstGeom>
        </p:spPr>
      </p:pic>
    </p:spTree>
    <p:custDataLst>
      <p:tags r:id="rId1"/>
    </p:custDataLst>
    <p:extLst>
      <p:ext uri="{BB962C8B-B14F-4D97-AF65-F5344CB8AC3E}">
        <p14:creationId xmlns:p14="http://schemas.microsoft.com/office/powerpoint/2010/main" val="192132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r>
              <a:rPr lang="en-US" dirty="0"/>
              <a:t>The Customer Feedback Analysis Bot revolutionizes feedback processing by automating sentiment analysis and report generation. It reduces manual effort, improves accuracy, and ensures consistent, timely insights, empowering businesses to address customer concerns proactively. The scalable and efficient solution supports data-driven decision-making, enabling improved customer satisfaction.</a:t>
            </a:r>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a:buFont typeface="+mj-lt"/>
              <a:buAutoNum type="arabicPeriod"/>
            </a:pPr>
            <a:r>
              <a:rPr lang="en-US" b="1" dirty="0"/>
              <a:t>Advanced Insights</a:t>
            </a:r>
            <a:r>
              <a:rPr lang="en-US" dirty="0"/>
              <a:t>:</a:t>
            </a:r>
          </a:p>
          <a:p>
            <a:pPr marL="742950" lvl="1" indent="-285750">
              <a:buFont typeface="+mj-lt"/>
              <a:buAutoNum type="arabicPeriod"/>
            </a:pPr>
            <a:r>
              <a:rPr lang="en-US" dirty="0"/>
              <a:t>Incorporate AI to identify recurring feedback patterns and suggest business improvements.</a:t>
            </a:r>
          </a:p>
          <a:p>
            <a:pPr>
              <a:buFont typeface="+mj-lt"/>
              <a:buAutoNum type="arabicPeriod"/>
            </a:pPr>
            <a:r>
              <a:rPr lang="en-US" b="1" dirty="0"/>
              <a:t>Integration with Cloud</a:t>
            </a:r>
            <a:r>
              <a:rPr lang="en-US" dirty="0"/>
              <a:t>:</a:t>
            </a:r>
          </a:p>
          <a:p>
            <a:pPr marL="742950" lvl="1" indent="-285750">
              <a:buFont typeface="+mj-lt"/>
              <a:buAutoNum type="arabicPeriod"/>
            </a:pPr>
            <a:r>
              <a:rPr lang="en-US" dirty="0"/>
              <a:t>Store reports in cloud platforms like Google Drive or OneDrive for easy access and collaboration.</a:t>
            </a:r>
          </a:p>
          <a:p>
            <a:pPr>
              <a:buFont typeface="+mj-lt"/>
              <a:buAutoNum type="arabicPeriod"/>
            </a:pPr>
            <a:r>
              <a:rPr lang="en-US" b="1" dirty="0"/>
              <a:t>Real-Time Analysis</a:t>
            </a:r>
            <a:r>
              <a:rPr lang="en-US" dirty="0"/>
              <a:t>:</a:t>
            </a:r>
          </a:p>
          <a:p>
            <a:pPr marL="742950" lvl="1" indent="-285750">
              <a:buFont typeface="+mj-lt"/>
              <a:buAutoNum type="arabicPeriod"/>
            </a:pPr>
            <a:r>
              <a:rPr lang="en-US" dirty="0"/>
              <a:t>Extend capabilities to process live feedback streams for instant sentiment insights.</a:t>
            </a:r>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a:buFont typeface="+mj-lt"/>
              <a:buAutoNum type="arabicPeriod"/>
            </a:pPr>
            <a:r>
              <a:rPr lang="en-US" dirty="0"/>
              <a:t>Liu, B. (2015). Sentiment Analysis and Opinion Mining.</a:t>
            </a:r>
          </a:p>
          <a:p>
            <a:pPr>
              <a:buFont typeface="+mj-lt"/>
              <a:buAutoNum type="arabicPeriod"/>
            </a:pPr>
            <a:r>
              <a:rPr lang="en-US" dirty="0"/>
              <a:t>Mehta, A., &amp; Patel, K. (2023). AI-Powered Feedback Analysis.</a:t>
            </a:r>
          </a:p>
          <a:p>
            <a:pPr>
              <a:buFont typeface="+mj-lt"/>
              <a:buAutoNum type="arabicPeriod"/>
            </a:pPr>
            <a:r>
              <a:rPr lang="en-US" dirty="0"/>
              <a:t>Zhang, Y., &amp; Wang, L. (2021). Machine Learning in Customer Sentiment.</a:t>
            </a:r>
          </a:p>
          <a:p>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9347</TotalTime>
  <Words>838</Words>
  <Application>Microsoft Office PowerPoint</Application>
  <PresentationFormat>On-screen Show (4:3)</PresentationFormat>
  <Paragraphs>110</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Open Sans Extrabold</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Table Design</vt:lpstr>
      <vt:lpstr>Process Design</vt:lpstr>
      <vt:lpstr>Implementation</vt:lpstr>
      <vt:lpstr>Testing</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Thinkpad</dc:creator>
  <cp:lastModifiedBy>Thinkpad</cp:lastModifiedBy>
  <cp:revision>1743</cp:revision>
  <dcterms:created xsi:type="dcterms:W3CDTF">2013-05-17T03:00:03Z</dcterms:created>
  <dcterms:modified xsi:type="dcterms:W3CDTF">2024-11-22T04:01:15Z</dcterms:modified>
</cp:coreProperties>
</file>